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Metadata/LabelInfo.xml" ContentType="application/vnd.ms-office.classificationlabels+xml"/>
  <Override PartName="/docProps/core.xml" ContentType="application/vnd.openxmlformats-package.core-properties+xml"/>
  <Override PartName="/docProps/custom.xml" ContentType="application/vnd.openxmlformats-officedocument.custom-properties+xml"/>
  <Override PartName="/docProps/app0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6" Type="http://schemas.openxmlformats.org/package/2006/relationships/metadata/extended-properties" Target="docProps/app0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3" autoAdjust="0"/>
    <p:restoredTop sz="94694" autoAdjust="0"/>
  </p:normalViewPr>
  <p:slideViewPr>
    <p:cSldViewPr snapToGrid="0" snapToObjects="1">
      <p:cViewPr varScale="1">
        <p:scale>
          <a:sx n="129" d="100"/>
          <a:sy n="129" d="100"/>
        </p:scale>
        <p:origin x="1104" y="330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customXml" Target="../customXml/item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customXml" Target="../customXml/item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customXml" Target="../customXml/item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342900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34290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34290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500" indent="-34290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rconnect.jnj.com/content/7251a635-1a00-415e-914c-02d636390edb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marL="0" lvl="0" indent="0">
              <a:buNone/>
            </a:pPr>
            <a:r>
              <a:t>Cross-Team Methodology Integration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>
            <a:normAutofit fontScale="92500"/>
          </a:bodyPr>
          <a:lstStyle/>
          <a:p>
            <a:pPr marL="0" lvl="0" indent="0">
              <a:buNone/>
            </a:pPr>
            <a:r>
              <a:t>Building on the RTSM Supply Simulation Foundation</a:t>
            </a:r>
            <a:br/>
            <a:br/>
            <a:r>
              <a:t>Fei Chen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Working Group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Four research teams focused on </a:t>
            </a:r>
            <a:r>
              <a:rPr b="1"/>
              <a:t>methodology</a:t>
            </a:r>
            <a:r>
              <a:t>:</a:t>
            </a:r>
          </a:p>
          <a:p>
            <a:pPr marL="342900" lvl="0" indent="-342900">
              <a:buAutoNum type="arabicPeriod"/>
            </a:pPr>
            <a:r>
              <a:rPr b="1"/>
              <a:t>Study Design</a:t>
            </a:r>
            <a:r>
              <a:t> - Rare indications, adaptive designs, pediatric studies</a:t>
            </a:r>
          </a:p>
          <a:p>
            <a:pPr marL="342900" lvl="0" indent="-342900">
              <a:buAutoNum type="arabicPeriod"/>
            </a:pPr>
            <a:r>
              <a:rPr b="1"/>
              <a:t>Enrollment Modeling</a:t>
            </a:r>
            <a:r>
              <a:t> - Forecasting, site selection &amp; activation</a:t>
            </a:r>
          </a:p>
          <a:p>
            <a:pPr marL="342900" lvl="0" indent="-342900">
              <a:buAutoNum type="arabicPeriod"/>
            </a:pPr>
            <a:r>
              <a:rPr b="1"/>
              <a:t>Data Quality</a:t>
            </a:r>
            <a:r>
              <a:t> - Monitoring frameworks</a:t>
            </a:r>
          </a:p>
          <a:p>
            <a:pPr marL="342900" lvl="0" indent="-342900">
              <a:buAutoNum type="arabicPeriod"/>
            </a:pPr>
            <a:r>
              <a:rPr b="1"/>
              <a:t>Supply Chain</a:t>
            </a:r>
            <a:r>
              <a:t> - Inventory &amp; logistics algorithms</a:t>
            </a:r>
          </a:p>
          <a:p>
            <a:pPr marL="0" lvl="0" indent="0">
              <a:buNone/>
            </a:pPr>
            <a:r>
              <a:rPr b="1"/>
              <a:t>Goal:</a:t>
            </a:r>
            <a:r>
              <a:t> Integrate methodologies into unified simulation platform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 dirty="0"/>
              <a:t>Missed Interactions</a:t>
            </a:r>
          </a:p>
          <a:p>
            <a:pPr lvl="0"/>
            <a:r>
              <a:rPr dirty="0"/>
              <a:t>Study design affects enrollment patterns</a:t>
            </a:r>
          </a:p>
          <a:p>
            <a:pPr lvl="0"/>
            <a:r>
              <a:rPr dirty="0"/>
              <a:t>Enrollment drives supply needs</a:t>
            </a:r>
          </a:p>
          <a:p>
            <a:pPr lvl="0"/>
            <a:r>
              <a:rPr dirty="0"/>
              <a:t>Data quality impacts all decisions</a:t>
            </a:r>
          </a:p>
          <a:p>
            <a:pPr lvl="0"/>
            <a:r>
              <a:rPr dirty="0"/>
              <a:t>Supply constraints affect feasibility</a:t>
            </a:r>
          </a:p>
          <a:p>
            <a:pPr marL="0" lvl="0" indent="0">
              <a:buNone/>
            </a:pPr>
            <a:r>
              <a:rPr b="1" dirty="0"/>
              <a:t>Can’t measure true impact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Missed Opportunities</a:t>
            </a:r>
          </a:p>
          <a:p>
            <a:pPr lvl="0"/>
            <a:r>
              <a:t>Synergies (1+1=3 effects)</a:t>
            </a:r>
          </a:p>
          <a:p>
            <a:pPr lvl="0"/>
            <a:r>
              <a:t>Trade-offs (optimize globally, not locally)</a:t>
            </a:r>
          </a:p>
          <a:p>
            <a:pPr lvl="0"/>
            <a:r>
              <a:t>Real-world validation</a:t>
            </a:r>
          </a:p>
          <a:p>
            <a:pPr lvl="0"/>
            <a:r>
              <a:t>Holistic recommendations</a:t>
            </a:r>
          </a:p>
          <a:p>
            <a:pPr marL="0" lvl="0" indent="0">
              <a:buNone/>
            </a:pPr>
            <a:r>
              <a:rPr b="1"/>
              <a:t>Can’t prove business value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B558961-5C9F-E833-8F1E-C61524CE85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/>
          <a:p>
            <a:pPr marL="0" lvl="0" indent="0">
              <a:buNone/>
            </a:pPr>
            <a:r>
              <a:rPr dirty="0"/>
              <a:t>Why Integration? Why Not Keep Separate?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Why Integration?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lvl="0" indent="0">
              <a:buNone/>
            </a:pPr>
            <a:r>
              <a:rPr b="1"/>
              <a:t>Example Interactions:</a:t>
            </a:r>
          </a:p>
          <a:p>
            <a:pPr lvl="0"/>
            <a:r>
              <a:rPr b="1"/>
              <a:t>Study Design Team + Enrollment Team:</a:t>
            </a:r>
            <a:r>
              <a:t> Rare indication design → affects site selection strategy</a:t>
            </a:r>
          </a:p>
          <a:p>
            <a:pPr lvl="0"/>
            <a:r>
              <a:rPr b="1"/>
              <a:t>Enrollment Team + Supply Chain Team:</a:t>
            </a:r>
            <a:r>
              <a:t> Better enrollment forecast → optimized inventory levels</a:t>
            </a:r>
          </a:p>
          <a:p>
            <a:pPr lvl="0"/>
            <a:r>
              <a:rPr b="1"/>
              <a:t>Study Design Team + Supply Chain Team:</a:t>
            </a:r>
            <a:r>
              <a:t> Adaptive design interim analyses → supply reallocation</a:t>
            </a:r>
          </a:p>
          <a:p>
            <a:pPr lvl="0"/>
            <a:r>
              <a:rPr b="1"/>
              <a:t>Data Quality Team + All:</a:t>
            </a:r>
            <a:r>
              <a:t> Data quality issues → impact on all methodologies</a:t>
            </a:r>
          </a:p>
          <a:p>
            <a:pPr marL="0" lvl="0" indent="0">
              <a:buNone/>
            </a:pPr>
            <a:r>
              <a:rPr b="1"/>
              <a:t>Without integration:</a:t>
            </a:r>
            <a:r>
              <a:t> Each team optimizes in isolation, may conflict in practice</a:t>
            </a:r>
          </a:p>
          <a:p>
            <a:pPr marL="0" lvl="0" indent="0">
              <a:buNone/>
            </a:pPr>
            <a:r>
              <a:rPr b="1"/>
              <a:t>With integration:</a:t>
            </a:r>
            <a:r>
              <a:t> Find globally optimal solutions, prove real-world value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The Integration Challenge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Question:</a:t>
            </a:r>
            <a:r>
              <a:t> How do we integrate everyone’s methodologies?</a:t>
            </a:r>
          </a:p>
          <a:p>
            <a:pPr marL="0" lvl="0" indent="0">
              <a:buNone/>
            </a:pPr>
            <a:r>
              <a:t>Two possible approaches…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Two Approaches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 dirty="0"/>
              <a:t>Code-Level Integration </a:t>
            </a:r>
          </a:p>
          <a:p>
            <a:pPr lvl="0"/>
            <a:r>
              <a:rPr dirty="0"/>
              <a:t>Force everyone to write R</a:t>
            </a:r>
          </a:p>
          <a:p>
            <a:pPr lvl="0"/>
            <a:r>
              <a:rPr dirty="0"/>
              <a:t>Debug integration issues</a:t>
            </a:r>
          </a:p>
          <a:p>
            <a:pPr lvl="0"/>
            <a:r>
              <a:rPr dirty="0"/>
              <a:t>Version control nightmares</a:t>
            </a:r>
          </a:p>
          <a:p>
            <a:pPr lvl="0"/>
            <a:r>
              <a:rPr dirty="0"/>
              <a:t>“Works on my machine”</a:t>
            </a:r>
          </a:p>
          <a:p>
            <a:pPr lvl="0"/>
            <a:r>
              <a:rPr dirty="0"/>
              <a:t>High technical barrier</a:t>
            </a:r>
          </a:p>
          <a:p>
            <a:pPr lvl="0"/>
            <a:r>
              <a:rPr dirty="0"/>
              <a:t>Tight coupling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 dirty="0"/>
              <a:t>Specification-First </a:t>
            </a:r>
          </a:p>
          <a:p>
            <a:pPr lvl="0"/>
            <a:r>
              <a:rPr dirty="0"/>
              <a:t>Technology agnostic</a:t>
            </a:r>
          </a:p>
          <a:p>
            <a:pPr lvl="0"/>
            <a:r>
              <a:rPr dirty="0"/>
              <a:t>Clear ownership</a:t>
            </a:r>
          </a:p>
          <a:p>
            <a:pPr lvl="0"/>
            <a:r>
              <a:rPr dirty="0"/>
              <a:t>AI-assisted implementation</a:t>
            </a:r>
          </a:p>
          <a:p>
            <a:pPr lvl="0"/>
            <a:r>
              <a:rPr dirty="0"/>
              <a:t>Maintainable &amp; testable</a:t>
            </a:r>
          </a:p>
          <a:p>
            <a:pPr lvl="0"/>
            <a:r>
              <a:rPr dirty="0"/>
              <a:t>Focus on </a:t>
            </a:r>
            <a:r>
              <a:rPr b="1" dirty="0"/>
              <a:t>what</a:t>
            </a:r>
            <a:r>
              <a:rPr dirty="0"/>
              <a:t>, not </a:t>
            </a:r>
            <a:r>
              <a:rPr b="1" dirty="0"/>
              <a:t>how</a:t>
            </a:r>
          </a:p>
          <a:p>
            <a:pPr lvl="0"/>
            <a:r>
              <a:rPr dirty="0"/>
              <a:t>Modular architecture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Why Specification-First?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For Methodology Teams</a:t>
            </a:r>
          </a:p>
          <a:p>
            <a:pPr lvl="0"/>
            <a:r>
              <a:t>Focus on </a:t>
            </a:r>
            <a:r>
              <a:rPr b="1"/>
              <a:t>what</a:t>
            </a:r>
            <a:r>
              <a:t> improves, not implementation</a:t>
            </a:r>
          </a:p>
          <a:p>
            <a:pPr lvl="0"/>
            <a:r>
              <a:t>Specifications are peer-reviewable</a:t>
            </a:r>
          </a:p>
          <a:p>
            <a:pPr lvl="0"/>
            <a:r>
              <a:t>Technology agnostic</a:t>
            </a:r>
          </a:p>
          <a:p>
            <a:pPr lvl="0"/>
            <a:r>
              <a:t>Clear success criteria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For Integration</a:t>
            </a:r>
          </a:p>
          <a:p>
            <a:pPr lvl="0"/>
            <a:r>
              <a:t>Modular architecture</a:t>
            </a:r>
          </a:p>
          <a:p>
            <a:pPr lvl="0"/>
            <a:r>
              <a:t>Independent validation</a:t>
            </a:r>
          </a:p>
          <a:p>
            <a:pPr lvl="0"/>
            <a:r>
              <a:t>Version controlled</a:t>
            </a:r>
          </a:p>
          <a:p>
            <a:pPr lvl="0"/>
            <a:r>
              <a:t>Reproducible science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Key Principle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“Methodologies as Specifications”</a:t>
            </a:r>
          </a:p>
          <a:p>
            <a:pPr marL="0" lvl="0" indent="0">
              <a:buNone/>
            </a:pPr>
            <a:r>
              <a:t>Separate </a:t>
            </a:r>
            <a:r>
              <a:rPr b="1"/>
              <a:t>what</a:t>
            </a:r>
            <a:r>
              <a:t> we improve from </a:t>
            </a:r>
            <a:r>
              <a:rPr b="1"/>
              <a:t>how</a:t>
            </a:r>
            <a:r>
              <a:t> we implement it</a:t>
            </a:r>
          </a:p>
          <a:p>
            <a:pPr marL="0" lvl="0" indent="0">
              <a:buNone/>
            </a:pPr>
            <a:r>
              <a:t>Enable rigorous comparison and validation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Why Now? The GenAI Breakthrough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Specification-first was always ideal, but not practical… until now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 dirty="0"/>
              <a:t>Before GenAI </a:t>
            </a:r>
          </a:p>
          <a:p>
            <a:pPr lvl="0"/>
            <a:r>
              <a:rPr dirty="0"/>
              <a:t>Specs → Code required expert programmers</a:t>
            </a:r>
          </a:p>
          <a:p>
            <a:pPr lvl="0"/>
            <a:r>
              <a:rPr dirty="0"/>
              <a:t>Weeks/months per methodology</a:t>
            </a:r>
          </a:p>
          <a:p>
            <a:pPr lvl="0"/>
            <a:r>
              <a:rPr dirty="0"/>
              <a:t>High cost, slow iteration</a:t>
            </a:r>
          </a:p>
          <a:p>
            <a:pPr lvl="0"/>
            <a:r>
              <a:rPr dirty="0"/>
              <a:t>Bottleneck: implementation capacity</a:t>
            </a:r>
          </a:p>
          <a:p>
            <a:pPr lvl="0"/>
            <a:r>
              <a:rPr dirty="0"/>
              <a:t>Teams hesitant to write specs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 dirty="0"/>
              <a:t>With GenAI (Kiro/Claude) </a:t>
            </a:r>
          </a:p>
          <a:p>
            <a:pPr lvl="0"/>
            <a:r>
              <a:rPr dirty="0"/>
              <a:t>Specs → Code in hours/days</a:t>
            </a:r>
          </a:p>
          <a:p>
            <a:pPr lvl="0"/>
            <a:r>
              <a:rPr dirty="0"/>
              <a:t>AI translates intent to implementation</a:t>
            </a:r>
          </a:p>
          <a:p>
            <a:pPr lvl="0"/>
            <a:r>
              <a:rPr dirty="0"/>
              <a:t>Rapid iteration and refinement</a:t>
            </a:r>
          </a:p>
          <a:p>
            <a:pPr lvl="0"/>
            <a:r>
              <a:rPr dirty="0"/>
              <a:t>Bottleneck removed</a:t>
            </a:r>
          </a:p>
          <a:p>
            <a:pPr lvl="0"/>
            <a:r>
              <a:rPr dirty="0"/>
              <a:t>Teams focus on methodology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GenAI as the Integration Enabler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lvl="0" indent="0">
              <a:buNone/>
            </a:pPr>
            <a:r>
              <a:rPr b="1"/>
              <a:t>What Kiro/Claude provides:</a:t>
            </a:r>
          </a:p>
          <a:p>
            <a:pPr marL="342900" lvl="0" indent="-342900">
              <a:buAutoNum type="arabicPeriod"/>
            </a:pPr>
            <a:r>
              <a:rPr b="1"/>
              <a:t>Specification → Code translation</a:t>
            </a:r>
            <a:r>
              <a:t> - Reads methodology specs, generates R code</a:t>
            </a:r>
          </a:p>
          <a:p>
            <a:pPr marL="342900" lvl="0" indent="-342900">
              <a:buAutoNum type="arabicPeriod"/>
            </a:pPr>
            <a:r>
              <a:rPr b="1"/>
              <a:t>Integration intelligence</a:t>
            </a:r>
            <a:r>
              <a:t> - Understands existing codebase, finds integration points</a:t>
            </a:r>
          </a:p>
          <a:p>
            <a:pPr marL="342900" lvl="0" indent="-342900">
              <a:buAutoNum type="arabicPeriod"/>
            </a:pPr>
            <a:r>
              <a:rPr b="1"/>
              <a:t>Validation assistance</a:t>
            </a:r>
            <a:r>
              <a:t> - Creates test cases, comparison scripts</a:t>
            </a:r>
          </a:p>
          <a:p>
            <a:pPr marL="342900" lvl="0" indent="-342900">
              <a:buAutoNum type="arabicPeriod"/>
            </a:pPr>
            <a:r>
              <a:rPr b="1"/>
              <a:t>Documentation generation</a:t>
            </a:r>
            <a:r>
              <a:t> - Produces reports, visualizations</a:t>
            </a:r>
          </a:p>
          <a:p>
            <a:pPr marL="342900" lvl="0" indent="-342900">
              <a:buAutoNum type="arabicPeriod"/>
            </a:pPr>
            <a:r>
              <a:rPr b="1"/>
              <a:t>Iteration speed</a:t>
            </a:r>
            <a:r>
              <a:t> - Refine specs, regenerate code instantly</a:t>
            </a:r>
          </a:p>
          <a:p>
            <a:pPr marL="0" lvl="0" indent="0">
              <a:buNone/>
            </a:pPr>
            <a:r>
              <a:rPr b="1"/>
              <a:t>Result:</a:t>
            </a:r>
            <a:r>
              <a:t> Methodology experts can contribute without coding expertise</a:t>
            </a:r>
          </a:p>
          <a:p>
            <a:pPr marL="0" lvl="0" indent="0">
              <a:buNone/>
            </a:pPr>
            <a:r>
              <a:rPr b="1"/>
              <a:t>This changes the game for cross-team collaboration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Publication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lvl="0" indent="0">
              <a:buNone/>
            </a:pPr>
            <a:r>
              <a:rPr b="1"/>
              <a:t>Outputs from this work:</a:t>
            </a:r>
          </a:p>
          <a:p>
            <a:pPr marL="342900" lvl="0" indent="-342900">
              <a:buAutoNum type="arabicPeriod"/>
            </a:pPr>
            <a:r>
              <a:rPr b="1"/>
              <a:t>Technical Paper:</a:t>
            </a:r>
            <a:r>
              <a:t> “Integrated Simulation Platform for Clinical Trial Optimization”</a:t>
            </a:r>
          </a:p>
          <a:p>
            <a:pPr marL="342900" lvl="0" indent="-342900">
              <a:buAutoNum type="arabicPeriod"/>
            </a:pPr>
            <a:r>
              <a:rPr b="1"/>
              <a:t>Methodology Papers:</a:t>
            </a:r>
            <a:r>
              <a:t> One per team on their specific contribution</a:t>
            </a:r>
          </a:p>
          <a:p>
            <a:pPr marL="342900" lvl="0" indent="-342900">
              <a:buAutoNum type="arabicPeriod"/>
            </a:pPr>
            <a:r>
              <a:rPr b="1"/>
              <a:t>Comparison Study:</a:t>
            </a:r>
            <a:r>
              <a:t> “Comparative Analysis of Trial Optimization Methodologies”</a:t>
            </a:r>
          </a:p>
          <a:p>
            <a:pPr marL="342900" lvl="0" indent="-342900">
              <a:buAutoNum type="arabicPeriod"/>
            </a:pPr>
            <a:r>
              <a:rPr b="1"/>
              <a:t>Integrated Specifications:</a:t>
            </a:r>
            <a:r>
              <a:t> Published methodology specs as reproducible research artifacts</a:t>
            </a:r>
          </a:p>
          <a:p>
            <a:pPr marL="342900" lvl="0" indent="-342900">
              <a:buAutoNum type="arabicPeriod"/>
            </a:pPr>
            <a:r>
              <a:rPr b="1"/>
              <a:t>Software Release:</a:t>
            </a:r>
            <a:r>
              <a:t> Open-source simulation platform with methodology plugins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The Foundation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>
                <a:hlinkClick r:id="rId2"/>
              </a:rPr>
              <a:t>RTSM Supply Simulation Spec</a:t>
            </a:r>
            <a:r>
              <a:t> (CSC Team)</a:t>
            </a:r>
          </a:p>
          <a:p>
            <a:pPr lvl="0"/>
            <a:r>
              <a:t>End-to-end operational simulation</a:t>
            </a:r>
          </a:p>
          <a:p>
            <a:pPr lvl="0"/>
            <a:r>
              <a:t>Enrollment → Randomization → Visits → Supply → Logistics</a:t>
            </a:r>
          </a:p>
          <a:p>
            <a:pPr lvl="0"/>
            <a:r>
              <a:t>Proven implementation in R</a:t>
            </a:r>
          </a:p>
          <a:p>
            <a:pPr lvl="0"/>
            <a:r>
              <a:t>Validated against real trials</a:t>
            </a:r>
          </a:p>
          <a:p>
            <a:pPr marL="0" lvl="0" indent="0">
              <a:buNone/>
            </a:pPr>
            <a:r>
              <a:rPr b="1"/>
              <a:t>This serves as the integration platform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F14C177C5482A48960B2C669C8F0CCD" ma:contentTypeVersion="12" ma:contentTypeDescription="Create a new document." ma:contentTypeScope="" ma:versionID="75fbdda27bf00b94a35276aceb76449f">
  <xsd:schema xmlns:xsd="http://www.w3.org/2001/XMLSchema" xmlns:xs="http://www.w3.org/2001/XMLSchema" xmlns:p="http://schemas.microsoft.com/office/2006/metadata/properties" xmlns:ns2="44a56295-c29e-4898-8136-a54736c65b82" xmlns:ns3="649ce920-5376-4a23-b3b0-de51347f54bf" xmlns:ns4="7cc5a941-87da-4fe2-ac18-7c3fb79233c3" targetNamespace="http://schemas.microsoft.com/office/2006/metadata/properties" ma:root="true" ma:fieldsID="ed69ce06ccca0aba415899eb70808a72" ns2:_="" ns3:_="" ns4:_="">
    <xsd:import namespace="44a56295-c29e-4898-8136-a54736c65b82"/>
    <xsd:import namespace="649ce920-5376-4a23-b3b0-de51347f54bf"/>
    <xsd:import namespace="7cc5a941-87da-4fe2-ac18-7c3fb79233c3"/>
    <xsd:element name="properties">
      <xsd:complexType>
        <xsd:sequence>
          <xsd:element name="documentManagement">
            <xsd:complexType>
              <xsd:all>
                <xsd:element ref="ns2:Descriptions" minOccurs="0"/>
                <xsd:element ref="ns2:Keyword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DateTaken" minOccurs="0"/>
                <xsd:element ref="ns3:lcf76f155ced4ddcb4097134ff3c332f" minOccurs="0"/>
                <xsd:element ref="ns4:TaxCatchAll" minOccurs="0"/>
                <xsd:element ref="ns3:MediaServiceOCR" minOccurs="0"/>
                <xsd:element ref="ns3:MediaServiceGenerationTime" minOccurs="0"/>
                <xsd:element ref="ns3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4a56295-c29e-4898-8136-a54736c65b82" elementFormDefault="qualified">
    <xsd:import namespace="http://schemas.microsoft.com/office/2006/documentManagement/types"/>
    <xsd:import namespace="http://schemas.microsoft.com/office/infopath/2007/PartnerControls"/>
    <xsd:element name="Descriptions" ma:index="8" nillable="true" ma:displayName="Descriptions" ma:description="Describe your document to make it appear at the top of search results" ma:internalName="Descriptions">
      <xsd:simpleType>
        <xsd:restriction base="dms:Note">
          <xsd:maxLength value="255"/>
        </xsd:restriction>
      </xsd:simpleType>
    </xsd:element>
    <xsd:element name="Keyword" ma:index="9" nillable="true" ma:displayName="Keyword" ma:description="Enter list of terms separated by semi-colon(;)" ma:internalName="Keyword">
      <xsd:simpleType>
        <xsd:restriction base="dms:Text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49ce920-5376-4a23-b3b0-de51347f54b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3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5" nillable="true" ma:taxonomy="true" ma:internalName="lcf76f155ced4ddcb4097134ff3c332f" ma:taxonomyFieldName="MediaServiceImageTags" ma:displayName="Image Tags" ma:readOnly="false" ma:fieldId="{5cf76f15-5ced-4ddc-b409-7134ff3c332f}" ma:taxonomyMulti="true" ma:sspId="1ee89e71-04cd-405e-9ca3-99e020c1694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cc5a941-87da-4fe2-ac18-7c3fb79233c3" elementFormDefault="qualified">
    <xsd:import namespace="http://schemas.microsoft.com/office/2006/documentManagement/types"/>
    <xsd:import namespace="http://schemas.microsoft.com/office/infopath/2007/PartnerControls"/>
    <xsd:element name="TaxCatchAll" ma:index="16" nillable="true" ma:displayName="Taxonomy Catch All Column" ma:hidden="true" ma:list="{f8391f5f-5ec1-45fa-8f75-325afcbfa684}" ma:internalName="TaxCatchAll" ma:showField="CatchAllData" ma:web="7cc5a941-87da-4fe2-ac18-7c3fb79233c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SharedContentType xmlns="Microsoft.SharePoint.Taxonomy.ContentTypeSync" SourceId="1ee89e71-04cd-405e-9ca3-99e020c1694d" ContentTypeId="0x0101" PreviousValue="false"/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4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Keyword xmlns="44a56295-c29e-4898-8136-a54736c65b82" xsi:nil="true"/>
    <lcf76f155ced4ddcb4097134ff3c332f xmlns="649ce920-5376-4a23-b3b0-de51347f54bf">
      <Terms xmlns="http://schemas.microsoft.com/office/infopath/2007/PartnerControls"/>
    </lcf76f155ced4ddcb4097134ff3c332f>
    <TaxCatchAll xmlns="7cc5a941-87da-4fe2-ac18-7c3fb79233c3" xsi:nil="true"/>
    <Descriptions xmlns="44a56295-c29e-4898-8136-a54736c65b82" xsi:nil="true"/>
  </documentManagement>
</p:properties>
</file>

<file path=customXml/itemProps1.xml><?xml version="1.0" encoding="utf-8"?>
<ds:datastoreItem xmlns:ds="http://schemas.openxmlformats.org/officeDocument/2006/customXml" ds:itemID="{C221AB75-4431-4FBD-8C3F-752B232571A7}"/>
</file>

<file path=customXml/itemProps2.xml><?xml version="1.0" encoding="utf-8"?>
<ds:datastoreItem xmlns:ds="http://schemas.openxmlformats.org/officeDocument/2006/customXml" ds:itemID="{78C443A6-F6A8-4120-9B46-3A400E205A01}"/>
</file>

<file path=customXml/itemProps3.xml><?xml version="1.0" encoding="utf-8"?>
<ds:datastoreItem xmlns:ds="http://schemas.openxmlformats.org/officeDocument/2006/customXml" ds:itemID="{FE68055F-D1C4-445D-A88C-7C970DC627F1}"/>
</file>

<file path=customXml/itemProps4.xml><?xml version="1.0" encoding="utf-8"?>
<ds:datastoreItem xmlns:ds="http://schemas.openxmlformats.org/officeDocument/2006/customXml" ds:itemID="{D9071B95-4DC5-4960-9FCC-DE2F9C1D8C2B}"/>
</file>

<file path=docMetadata/LabelInfo.xml><?xml version="1.0" encoding="utf-8"?>
<clbl:labelList xmlns:clbl="http://schemas.microsoft.com/office/2020/mipLabelMetadata">
  <clbl:label id="{3ca48ea3-8c75-4d36-b64f-70604b11fd22}" enabled="1" method="Standard" siteId="{3ac94b33-9135-4821-9502-eafda6592a35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561</Words>
  <Application>Microsoft Office PowerPoint</Application>
  <PresentationFormat>On-screen Show (16:9)</PresentationFormat>
  <Paragraphs>100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Cross-Team Methodology Integration</vt:lpstr>
      <vt:lpstr>Working Group Structure</vt:lpstr>
      <vt:lpstr>Why Integration? Why Not Keep Separate?</vt:lpstr>
      <vt:lpstr>Why Integration? </vt:lpstr>
      <vt:lpstr>The Integration Challenge</vt:lpstr>
      <vt:lpstr>Two Approaches</vt:lpstr>
      <vt:lpstr>Why Specification-First?</vt:lpstr>
      <vt:lpstr>Key Principle</vt:lpstr>
      <vt:lpstr>Why Now? The GenAI Breakthrough</vt:lpstr>
      <vt:lpstr>PowerPoint Presentation</vt:lpstr>
      <vt:lpstr>GenAI as the Integration Enabler</vt:lpstr>
      <vt:lpstr>Publication Strategy</vt:lpstr>
      <vt:lpstr>The Foundation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Cross-Team Methodology Integration</dc:title>
  <dc:creator>Fei Chen</dc:creator>
  <cp:keywords/>
  <cp:lastModifiedBy>Chen, Fei [JRDUS]</cp:lastModifiedBy>
  <cp:revision>1</cp:revision>
  <dcterms:created xsi:type="dcterms:W3CDTF">2026-03-13T00:59:03Z</dcterms:created>
  <dcterms:modified xsi:type="dcterms:W3CDTF">2026-03-13T01:04:24Z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editor">
    <vt:lpwstr>visual</vt:lpwstr>
  </property>
  <property fmtid="{D5CDD505-2E9C-101B-9397-08002B2CF9AE}" pid="6" name="header-includes">
    <vt:lpwstr/>
  </property>
  <property fmtid="{D5CDD505-2E9C-101B-9397-08002B2CF9AE}" pid="7" name="include-after">
    <vt:lpwstr/>
  </property>
  <property fmtid="{D5CDD505-2E9C-101B-9397-08002B2CF9AE}" pid="8" name="include-before">
    <vt:lpwstr/>
  </property>
  <property fmtid="{D5CDD505-2E9C-101B-9397-08002B2CF9AE}" pid="9" name="labels">
    <vt:lpwstr/>
  </property>
  <property fmtid="{D5CDD505-2E9C-101B-9397-08002B2CF9AE}" pid="10" name="resource_files">
    <vt:lpwstr/>
  </property>
  <property fmtid="{D5CDD505-2E9C-101B-9397-08002B2CF9AE}" pid="11" name="slide-number">
    <vt:lpwstr>True</vt:lpwstr>
  </property>
  <property fmtid="{D5CDD505-2E9C-101B-9397-08002B2CF9AE}" pid="12" name="subtitle">
    <vt:lpwstr>Building on the RTSM Supply Simulation Foundation</vt:lpwstr>
  </property>
  <property fmtid="{D5CDD505-2E9C-101B-9397-08002B2CF9AE}" pid="13" name="toc-title">
    <vt:lpwstr>Table of contents</vt:lpwstr>
  </property>
  <property fmtid="{D5CDD505-2E9C-101B-9397-08002B2CF9AE}" pid="14" name="ContentTypeId">
    <vt:lpwstr>0x010100FF14C177C5482A48960B2C669C8F0CCD</vt:lpwstr>
  </property>
</Properties>
</file>